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llerta Stencil" panose="020B0604020202020204" charset="0"/>
      <p:regular r:id="rId18"/>
    </p:embeddedFont>
    <p:embeddedFont>
      <p:font typeface="TT Commons Pro" panose="020B0604020202020204" charset="0"/>
      <p:regular r:id="rId19"/>
    </p:embeddedFont>
    <p:embeddedFont>
      <p:font typeface="TT Commons Pr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dhuganti Rahul Reddy" userId="aaa8a40abe2d9aae" providerId="LiveId" clId="{FF7EAA5D-FE78-4789-BC61-4035D158F2FC}"/>
    <pc:docChg chg="custSel modSld">
      <pc:chgData name="Mudhuganti Rahul Reddy" userId="aaa8a40abe2d9aae" providerId="LiveId" clId="{FF7EAA5D-FE78-4789-BC61-4035D158F2FC}" dt="2025-12-08T23:52:30.895" v="54" actId="20577"/>
      <pc:docMkLst>
        <pc:docMk/>
      </pc:docMkLst>
      <pc:sldChg chg="addSp delSp modSp mod">
        <pc:chgData name="Mudhuganti Rahul Reddy" userId="aaa8a40abe2d9aae" providerId="LiveId" clId="{FF7EAA5D-FE78-4789-BC61-4035D158F2FC}" dt="2025-12-08T22:47:17.352" v="12" actId="14100"/>
        <pc:sldMkLst>
          <pc:docMk/>
          <pc:sldMk cId="0" sldId="264"/>
        </pc:sldMkLst>
        <pc:picChg chg="add del">
          <ac:chgData name="Mudhuganti Rahul Reddy" userId="aaa8a40abe2d9aae" providerId="LiveId" clId="{FF7EAA5D-FE78-4789-BC61-4035D158F2FC}" dt="2025-12-08T22:47:11.810" v="9" actId="478"/>
          <ac:picMkLst>
            <pc:docMk/>
            <pc:sldMk cId="0" sldId="264"/>
            <ac:picMk id="10" creationId="{084FACC1-B1D1-1B93-02B8-353C0E8FE2EC}"/>
          </ac:picMkLst>
        </pc:picChg>
        <pc:picChg chg="add del">
          <ac:chgData name="Mudhuganti Rahul Reddy" userId="aaa8a40abe2d9aae" providerId="LiveId" clId="{FF7EAA5D-FE78-4789-BC61-4035D158F2FC}" dt="2025-12-08T22:47:09.557" v="8" actId="478"/>
          <ac:picMkLst>
            <pc:docMk/>
            <pc:sldMk cId="0" sldId="264"/>
            <ac:picMk id="2050" creationId="{E43DA49E-FA6D-3647-4750-E53BD298456C}"/>
          </ac:picMkLst>
        </pc:picChg>
        <pc:picChg chg="add mod">
          <ac:chgData name="Mudhuganti Rahul Reddy" userId="aaa8a40abe2d9aae" providerId="LiveId" clId="{FF7EAA5D-FE78-4789-BC61-4035D158F2FC}" dt="2025-12-08T22:47:17.352" v="12" actId="14100"/>
          <ac:picMkLst>
            <pc:docMk/>
            <pc:sldMk cId="0" sldId="264"/>
            <ac:picMk id="2052" creationId="{4FF14E96-7570-84AE-C91B-54014443BBC0}"/>
          </ac:picMkLst>
        </pc:picChg>
      </pc:sldChg>
      <pc:sldChg chg="modSp mod">
        <pc:chgData name="Mudhuganti Rahul Reddy" userId="aaa8a40abe2d9aae" providerId="LiveId" clId="{FF7EAA5D-FE78-4789-BC61-4035D158F2FC}" dt="2025-12-08T23:52:30.895" v="54" actId="20577"/>
        <pc:sldMkLst>
          <pc:docMk/>
          <pc:sldMk cId="0" sldId="265"/>
        </pc:sldMkLst>
        <pc:spChg chg="mod">
          <ac:chgData name="Mudhuganti Rahul Reddy" userId="aaa8a40abe2d9aae" providerId="LiveId" clId="{FF7EAA5D-FE78-4789-BC61-4035D158F2FC}" dt="2025-12-08T23:52:30.895" v="54" actId="20577"/>
          <ac:spMkLst>
            <pc:docMk/>
            <pc:sldMk cId="0" sldId="265"/>
            <ac:spMk id="12" creationId="{00000000-0000-0000-0000-000000000000}"/>
          </ac:spMkLst>
        </pc:spChg>
      </pc:sldChg>
      <pc:sldChg chg="addSp delSp modSp mod">
        <pc:chgData name="Mudhuganti Rahul Reddy" userId="aaa8a40abe2d9aae" providerId="LiveId" clId="{FF7EAA5D-FE78-4789-BC61-4035D158F2FC}" dt="2025-12-08T22:46:15.647" v="5" actId="1037"/>
        <pc:sldMkLst>
          <pc:docMk/>
          <pc:sldMk cId="0" sldId="266"/>
        </pc:sldMkLst>
        <pc:spChg chg="mod">
          <ac:chgData name="Mudhuganti Rahul Reddy" userId="aaa8a40abe2d9aae" providerId="LiveId" clId="{FF7EAA5D-FE78-4789-BC61-4035D158F2FC}" dt="2025-12-08T22:46:15.647" v="5" actId="1037"/>
          <ac:spMkLst>
            <pc:docMk/>
            <pc:sldMk cId="0" sldId="266"/>
            <ac:spMk id="2" creationId="{00000000-0000-0000-0000-000000000000}"/>
          </ac:spMkLst>
        </pc:spChg>
        <pc:picChg chg="del">
          <ac:chgData name="Mudhuganti Rahul Reddy" userId="aaa8a40abe2d9aae" providerId="LiveId" clId="{FF7EAA5D-FE78-4789-BC61-4035D158F2FC}" dt="2025-12-08T22:46:01.307" v="0" actId="478"/>
          <ac:picMkLst>
            <pc:docMk/>
            <pc:sldMk cId="0" sldId="266"/>
            <ac:picMk id="11" creationId="{159190E1-FDC8-E2D6-389A-18177C4D2219}"/>
          </ac:picMkLst>
        </pc:picChg>
        <pc:picChg chg="add mod">
          <ac:chgData name="Mudhuganti Rahul Reddy" userId="aaa8a40abe2d9aae" providerId="LiveId" clId="{FF7EAA5D-FE78-4789-BC61-4035D158F2FC}" dt="2025-12-08T22:46:10.353" v="4" actId="14100"/>
          <ac:picMkLst>
            <pc:docMk/>
            <pc:sldMk cId="0" sldId="266"/>
            <ac:picMk id="1026" creationId="{D4BC7932-FAF0-D6EA-7981-1045FC27DAB9}"/>
          </ac:picMkLst>
        </pc:picChg>
      </pc:sldChg>
    </pc:docChg>
  </pc:docChgLst>
  <pc:docChgLst>
    <pc:chgData name="Jeevana Shruti Kunuku" userId="f82aaee73ca7b06b" providerId="LiveId" clId="{1A4FE6AB-F49E-4AB1-83B9-3E3B765EAE79}"/>
    <pc:docChg chg="undo custSel modSld">
      <pc:chgData name="Jeevana Shruti Kunuku" userId="f82aaee73ca7b06b" providerId="LiveId" clId="{1A4FE6AB-F49E-4AB1-83B9-3E3B765EAE79}" dt="2025-12-08T06:49:47.888" v="3" actId="123"/>
      <pc:docMkLst>
        <pc:docMk/>
      </pc:docMkLst>
      <pc:sldChg chg="modSp mod">
        <pc:chgData name="Jeevana Shruti Kunuku" userId="f82aaee73ca7b06b" providerId="LiveId" clId="{1A4FE6AB-F49E-4AB1-83B9-3E3B765EAE79}" dt="2025-12-08T06:49:47.888" v="3" actId="123"/>
        <pc:sldMkLst>
          <pc:docMk/>
          <pc:sldMk cId="0" sldId="264"/>
        </pc:sldMkLst>
        <pc:spChg chg="mod">
          <ac:chgData name="Jeevana Shruti Kunuku" userId="f82aaee73ca7b06b" providerId="LiveId" clId="{1A4FE6AB-F49E-4AB1-83B9-3E3B765EAE79}" dt="2025-12-08T06:49:30.425" v="1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Jeevana Shruti Kunuku" userId="f82aaee73ca7b06b" providerId="LiveId" clId="{1A4FE6AB-F49E-4AB1-83B9-3E3B765EAE79}" dt="2025-12-08T06:49:47.888" v="3" actId="123"/>
          <ac:spMkLst>
            <pc:docMk/>
            <pc:sldMk cId="0" sldId="264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362190" y="5663786"/>
            <a:ext cx="115840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3341728" y="5813213"/>
            <a:ext cx="1270340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362190" y="6067848"/>
            <a:ext cx="11604544" cy="58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9"/>
              </a:lnSpc>
            </a:pPr>
            <a:r>
              <a:rPr lang="en-US" sz="4099">
                <a:solidFill>
                  <a:srgbClr val="000000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NEURAL INPUT OPTIMIZATION (NIO)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19933" y="157202"/>
            <a:ext cx="861735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Purdue Northwest University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54943" y="9116844"/>
            <a:ext cx="2482346" cy="109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564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– By </a:t>
            </a:r>
          </a:p>
          <a:p>
            <a:pPr algn="l">
              <a:lnSpc>
                <a:spcPts val="2189"/>
              </a:lnSpc>
            </a:pPr>
            <a:r>
              <a:rPr lang="en-US" sz="1564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Rahul Reddy Mudhuganti</a:t>
            </a:r>
          </a:p>
          <a:p>
            <a:pPr algn="l">
              <a:lnSpc>
                <a:spcPts val="2189"/>
              </a:lnSpc>
            </a:pPr>
            <a:r>
              <a:rPr lang="en-US" sz="1564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Ananya Boinpally</a:t>
            </a:r>
          </a:p>
          <a:p>
            <a:pPr algn="l">
              <a:lnSpc>
                <a:spcPts val="2189"/>
              </a:lnSpc>
              <a:spcBef>
                <a:spcPct val="0"/>
              </a:spcBef>
            </a:pPr>
            <a:r>
              <a:rPr lang="en-US" sz="1564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Jeevana Shruti Kunuku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62190" y="3405727"/>
            <a:ext cx="13917572" cy="195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>
                <a:solidFill>
                  <a:srgbClr val="000000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INVERSE MODELING FOR HOUSE VALUE PLANNING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1557" y="2308959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01557" y="3959045"/>
            <a:ext cx="14471827" cy="3473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4386" lvl="1" indent="-337193" algn="just">
              <a:lnSpc>
                <a:spcPts val="4685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Build a regression model for predicting house values</a:t>
            </a:r>
          </a:p>
          <a:p>
            <a:pPr marL="674386" lvl="1" indent="-337193" algn="just">
              <a:lnSpc>
                <a:spcPts val="4685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Freeze the trained model</a:t>
            </a:r>
          </a:p>
          <a:p>
            <a:pPr marL="674386" lvl="1" indent="-337193" algn="just">
              <a:lnSpc>
                <a:spcPts val="4685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Use Neural Input Optimization (NIO) to find inputs that achieve a target house value</a:t>
            </a:r>
          </a:p>
          <a:p>
            <a:pPr marL="674386" lvl="1" indent="-337193" algn="just">
              <a:lnSpc>
                <a:spcPts val="4685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Demonstrate inverse prediction + constraint optimization</a:t>
            </a:r>
          </a:p>
          <a:p>
            <a:pPr marL="674386" lvl="1" indent="-337193" algn="just">
              <a:lnSpc>
                <a:spcPts val="4685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Evaluate the system and deliver results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8495075" y="487824"/>
            <a:ext cx="1297849" cy="18288000"/>
            <a:chOff x="0" y="0"/>
            <a:chExt cx="341820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 flipV="1">
            <a:off x="10972800" y="9362553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5400000">
            <a:off x="8495075" y="-8495075"/>
            <a:ext cx="1297849" cy="18288000"/>
            <a:chOff x="0" y="0"/>
            <a:chExt cx="341820" cy="4816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0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821073" y="2089890"/>
            <a:ext cx="8813512" cy="7321769"/>
            <a:chOff x="0" y="0"/>
            <a:chExt cx="2321254" cy="19283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21254" cy="1928367"/>
            </a:xfrm>
            <a:custGeom>
              <a:avLst/>
              <a:gdLst/>
              <a:ahLst/>
              <a:cxnLst/>
              <a:rect l="l" t="t" r="r" b="b"/>
              <a:pathLst>
                <a:path w="2321254" h="1928367">
                  <a:moveTo>
                    <a:pt x="44799" y="0"/>
                  </a:moveTo>
                  <a:lnTo>
                    <a:pt x="2276455" y="0"/>
                  </a:lnTo>
                  <a:cubicBezTo>
                    <a:pt x="2301197" y="0"/>
                    <a:pt x="2321254" y="20057"/>
                    <a:pt x="2321254" y="44799"/>
                  </a:cubicBezTo>
                  <a:lnTo>
                    <a:pt x="2321254" y="1883568"/>
                  </a:lnTo>
                  <a:cubicBezTo>
                    <a:pt x="2321254" y="1908310"/>
                    <a:pt x="2301197" y="1928367"/>
                    <a:pt x="2276455" y="1928367"/>
                  </a:cubicBezTo>
                  <a:lnTo>
                    <a:pt x="44799" y="1928367"/>
                  </a:lnTo>
                  <a:cubicBezTo>
                    <a:pt x="32918" y="1928367"/>
                    <a:pt x="21523" y="1923647"/>
                    <a:pt x="13121" y="1915246"/>
                  </a:cubicBezTo>
                  <a:cubicBezTo>
                    <a:pt x="4720" y="1906844"/>
                    <a:pt x="0" y="1895449"/>
                    <a:pt x="0" y="1883568"/>
                  </a:cubicBezTo>
                  <a:lnTo>
                    <a:pt x="0" y="44799"/>
                  </a:lnTo>
                  <a:cubicBezTo>
                    <a:pt x="0" y="20057"/>
                    <a:pt x="20057" y="0"/>
                    <a:pt x="4479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21254" cy="1966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78492" y="4191676"/>
            <a:ext cx="5067246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Problem Motivation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6838" y="2809455"/>
            <a:ext cx="7801258" cy="578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Traditional ML predicts outputs from inputs</a:t>
            </a:r>
          </a:p>
          <a:p>
            <a:pPr marL="669289" lvl="1" indent="-334645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Real-world planning needs the reverse: “What conditions lead to a target outcome?”</a:t>
            </a:r>
          </a:p>
          <a:p>
            <a:pPr marL="669289" lvl="1" indent="-334645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NIO allows optimization directly over inputs</a:t>
            </a:r>
          </a:p>
          <a:p>
            <a:pPr marL="669289" lvl="1" indent="-334645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Applicable for pricing, planning, forecasting, and recommendations</a:t>
            </a:r>
          </a:p>
          <a:p>
            <a:pPr algn="just">
              <a:lnSpc>
                <a:spcPts val="4649"/>
              </a:lnSpc>
            </a:pPr>
            <a:endParaRPr lang="en-US" sz="30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265440" y="1437136"/>
            <a:ext cx="12356368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What is NIO?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436791" y="3512031"/>
            <a:ext cx="11414418" cy="2479677"/>
            <a:chOff x="0" y="0"/>
            <a:chExt cx="3006266" cy="6530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06267" cy="653084"/>
            </a:xfrm>
            <a:custGeom>
              <a:avLst/>
              <a:gdLst/>
              <a:ahLst/>
              <a:cxnLst/>
              <a:rect l="l" t="t" r="r" b="b"/>
              <a:pathLst>
                <a:path w="3006267" h="653084">
                  <a:moveTo>
                    <a:pt x="34591" y="0"/>
                  </a:moveTo>
                  <a:lnTo>
                    <a:pt x="2971675" y="0"/>
                  </a:lnTo>
                  <a:cubicBezTo>
                    <a:pt x="2980849" y="0"/>
                    <a:pt x="2989648" y="3644"/>
                    <a:pt x="2996135" y="10132"/>
                  </a:cubicBezTo>
                  <a:cubicBezTo>
                    <a:pt x="3002622" y="16619"/>
                    <a:pt x="3006267" y="25417"/>
                    <a:pt x="3006267" y="34591"/>
                  </a:cubicBezTo>
                  <a:lnTo>
                    <a:pt x="3006267" y="618493"/>
                  </a:lnTo>
                  <a:cubicBezTo>
                    <a:pt x="3006267" y="627667"/>
                    <a:pt x="3002622" y="636465"/>
                    <a:pt x="2996135" y="642952"/>
                  </a:cubicBezTo>
                  <a:cubicBezTo>
                    <a:pt x="2989648" y="649439"/>
                    <a:pt x="2980849" y="653084"/>
                    <a:pt x="2971675" y="653084"/>
                  </a:cubicBezTo>
                  <a:lnTo>
                    <a:pt x="34591" y="653084"/>
                  </a:lnTo>
                  <a:cubicBezTo>
                    <a:pt x="25417" y="653084"/>
                    <a:pt x="16619" y="649439"/>
                    <a:pt x="10132" y="642952"/>
                  </a:cubicBezTo>
                  <a:cubicBezTo>
                    <a:pt x="3644" y="636465"/>
                    <a:pt x="0" y="627667"/>
                    <a:pt x="0" y="618493"/>
                  </a:cubicBezTo>
                  <a:lnTo>
                    <a:pt x="0" y="34591"/>
                  </a:lnTo>
                  <a:cubicBezTo>
                    <a:pt x="0" y="25417"/>
                    <a:pt x="3644" y="16619"/>
                    <a:pt x="10132" y="10132"/>
                  </a:cubicBezTo>
                  <a:cubicBezTo>
                    <a:pt x="16619" y="3644"/>
                    <a:pt x="25417" y="0"/>
                    <a:pt x="3459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06266" cy="691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50943" y="6837878"/>
            <a:ext cx="11414418" cy="2420422"/>
            <a:chOff x="0" y="0"/>
            <a:chExt cx="3006266" cy="6374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06267" cy="637477"/>
            </a:xfrm>
            <a:custGeom>
              <a:avLst/>
              <a:gdLst/>
              <a:ahLst/>
              <a:cxnLst/>
              <a:rect l="l" t="t" r="r" b="b"/>
              <a:pathLst>
                <a:path w="3006267" h="637477">
                  <a:moveTo>
                    <a:pt x="34591" y="0"/>
                  </a:moveTo>
                  <a:lnTo>
                    <a:pt x="2971675" y="0"/>
                  </a:lnTo>
                  <a:cubicBezTo>
                    <a:pt x="2980849" y="0"/>
                    <a:pt x="2989648" y="3644"/>
                    <a:pt x="2996135" y="10132"/>
                  </a:cubicBezTo>
                  <a:cubicBezTo>
                    <a:pt x="3002622" y="16619"/>
                    <a:pt x="3006267" y="25417"/>
                    <a:pt x="3006267" y="34591"/>
                  </a:cubicBezTo>
                  <a:lnTo>
                    <a:pt x="3006267" y="602886"/>
                  </a:lnTo>
                  <a:cubicBezTo>
                    <a:pt x="3006267" y="612060"/>
                    <a:pt x="3002622" y="620859"/>
                    <a:pt x="2996135" y="627346"/>
                  </a:cubicBezTo>
                  <a:cubicBezTo>
                    <a:pt x="2989648" y="633833"/>
                    <a:pt x="2980849" y="637477"/>
                    <a:pt x="2971675" y="637477"/>
                  </a:cubicBezTo>
                  <a:lnTo>
                    <a:pt x="34591" y="637477"/>
                  </a:lnTo>
                  <a:cubicBezTo>
                    <a:pt x="25417" y="637477"/>
                    <a:pt x="16619" y="633833"/>
                    <a:pt x="10132" y="627346"/>
                  </a:cubicBezTo>
                  <a:cubicBezTo>
                    <a:pt x="3644" y="620859"/>
                    <a:pt x="0" y="612060"/>
                    <a:pt x="0" y="602886"/>
                  </a:cubicBezTo>
                  <a:lnTo>
                    <a:pt x="0" y="34591"/>
                  </a:lnTo>
                  <a:cubicBezTo>
                    <a:pt x="0" y="25417"/>
                    <a:pt x="3644" y="16619"/>
                    <a:pt x="10132" y="10132"/>
                  </a:cubicBezTo>
                  <a:cubicBezTo>
                    <a:pt x="16619" y="3644"/>
                    <a:pt x="25417" y="0"/>
                    <a:pt x="3459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006266" cy="675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634642" y="3822164"/>
            <a:ext cx="9018715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Model weights become fixed</a:t>
            </a:r>
          </a:p>
          <a:p>
            <a:pPr marL="690879" lvl="1" indent="-345439" algn="just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Input vector becomes trainable</a:t>
            </a:r>
          </a:p>
          <a:p>
            <a:pPr marL="690879" lvl="1" indent="-345439" algn="just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Apply gradient descent on inputs</a:t>
            </a:r>
          </a:p>
          <a:p>
            <a:pPr marL="0" lvl="0" indent="0" algn="just">
              <a:lnSpc>
                <a:spcPts val="479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757479" y="7352097"/>
            <a:ext cx="10401345" cy="177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Add constraints (income range, latitude/longitude, etc.)</a:t>
            </a:r>
          </a:p>
          <a:p>
            <a:pPr marL="690877" lvl="1" indent="-345439" algn="l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Run optimization until model output ≈ target</a:t>
            </a:r>
          </a:p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1557" y="1832014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Dataset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57731" y="3509179"/>
            <a:ext cx="12972538" cy="578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sz="3099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California Housing Dataset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Median Income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House Age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Average Number of Rooms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Average Bedrooms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Population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Latitude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Longitude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Median House Value</a:t>
            </a:r>
          </a:p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8495075" y="487824"/>
            <a:ext cx="1297849" cy="18288000"/>
            <a:chOff x="0" y="0"/>
            <a:chExt cx="341820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 flipV="1">
            <a:off x="10972800" y="9362553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5400000">
            <a:off x="8495075" y="-8495075"/>
            <a:ext cx="1297849" cy="18288000"/>
            <a:chOff x="0" y="0"/>
            <a:chExt cx="341820" cy="4816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0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A7A2D6-BFE7-4950-3FB6-CA4E19639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4076700"/>
            <a:ext cx="9143996" cy="3597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397448" y="-3397448"/>
            <a:ext cx="1297849" cy="8092745"/>
            <a:chOff x="0" y="0"/>
            <a:chExt cx="341820" cy="21314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1820" cy="2131423"/>
            </a:xfrm>
            <a:custGeom>
              <a:avLst/>
              <a:gdLst/>
              <a:ahLst/>
              <a:cxnLst/>
              <a:rect l="l" t="t" r="r" b="b"/>
              <a:pathLst>
                <a:path w="341820" h="2131423">
                  <a:moveTo>
                    <a:pt x="0" y="0"/>
                  </a:moveTo>
                  <a:lnTo>
                    <a:pt x="341820" y="0"/>
                  </a:lnTo>
                  <a:lnTo>
                    <a:pt x="341820" y="2131423"/>
                  </a:lnTo>
                  <a:lnTo>
                    <a:pt x="0" y="213142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1820" cy="2169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388773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2133" y="4524375"/>
            <a:ext cx="6919079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Preprocessing</a:t>
            </a: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3397448" y="5591703"/>
            <a:ext cx="1297849" cy="8092745"/>
            <a:chOff x="0" y="0"/>
            <a:chExt cx="341820" cy="2131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1820" cy="2131423"/>
            </a:xfrm>
            <a:custGeom>
              <a:avLst/>
              <a:gdLst/>
              <a:ahLst/>
              <a:cxnLst/>
              <a:rect l="l" t="t" r="r" b="b"/>
              <a:pathLst>
                <a:path w="341820" h="2131423">
                  <a:moveTo>
                    <a:pt x="0" y="0"/>
                  </a:moveTo>
                  <a:lnTo>
                    <a:pt x="341820" y="0"/>
                  </a:lnTo>
                  <a:lnTo>
                    <a:pt x="341820" y="2131423"/>
                  </a:lnTo>
                  <a:lnTo>
                    <a:pt x="0" y="213142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41820" cy="2169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0800000" flipV="1">
            <a:off x="388773" y="936880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538542"/>
                </a:moveTo>
                <a:lnTo>
                  <a:pt x="7315200" y="538542"/>
                </a:lnTo>
                <a:lnTo>
                  <a:pt x="7315200" y="0"/>
                </a:lnTo>
                <a:lnTo>
                  <a:pt x="0" y="0"/>
                </a:lnTo>
                <a:lnTo>
                  <a:pt x="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9144000" y="2065295"/>
            <a:ext cx="8793760" cy="6156410"/>
            <a:chOff x="0" y="0"/>
            <a:chExt cx="2316052" cy="16214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16052" cy="1621441"/>
            </a:xfrm>
            <a:custGeom>
              <a:avLst/>
              <a:gdLst/>
              <a:ahLst/>
              <a:cxnLst/>
              <a:rect l="l" t="t" r="r" b="b"/>
              <a:pathLst>
                <a:path w="2316052" h="1621441">
                  <a:moveTo>
                    <a:pt x="44900" y="0"/>
                  </a:moveTo>
                  <a:lnTo>
                    <a:pt x="2271152" y="0"/>
                  </a:lnTo>
                  <a:cubicBezTo>
                    <a:pt x="2295950" y="0"/>
                    <a:pt x="2316052" y="20102"/>
                    <a:pt x="2316052" y="44900"/>
                  </a:cubicBezTo>
                  <a:lnTo>
                    <a:pt x="2316052" y="1576541"/>
                  </a:lnTo>
                  <a:cubicBezTo>
                    <a:pt x="2316052" y="1588450"/>
                    <a:pt x="2311322" y="1599870"/>
                    <a:pt x="2302901" y="1608290"/>
                  </a:cubicBezTo>
                  <a:cubicBezTo>
                    <a:pt x="2294481" y="1616711"/>
                    <a:pt x="2283060" y="1621441"/>
                    <a:pt x="2271152" y="1621441"/>
                  </a:cubicBezTo>
                  <a:lnTo>
                    <a:pt x="44900" y="1621441"/>
                  </a:lnTo>
                  <a:cubicBezTo>
                    <a:pt x="20102" y="1621441"/>
                    <a:pt x="0" y="1601339"/>
                    <a:pt x="0" y="1576541"/>
                  </a:cubicBezTo>
                  <a:lnTo>
                    <a:pt x="0" y="44900"/>
                  </a:lnTo>
                  <a:cubicBezTo>
                    <a:pt x="0" y="20102"/>
                    <a:pt x="20102" y="0"/>
                    <a:pt x="449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316052" cy="1659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4000" y="3216275"/>
            <a:ext cx="8970778" cy="389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Missing value check</a:t>
            </a:r>
          </a:p>
          <a:p>
            <a:pPr algn="just">
              <a:lnSpc>
                <a:spcPts val="3850"/>
              </a:lnSpc>
            </a:pPr>
            <a:endParaRPr lang="en-US" sz="3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755651" lvl="1" indent="-377825" algn="just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Normalization (Min-Max / StandardScaler)</a:t>
            </a:r>
          </a:p>
          <a:p>
            <a:pPr algn="just">
              <a:lnSpc>
                <a:spcPts val="3850"/>
              </a:lnSpc>
            </a:pPr>
            <a:endParaRPr lang="en-US" sz="3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755651" lvl="1" indent="-377825" algn="just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Train-test split</a:t>
            </a:r>
          </a:p>
          <a:p>
            <a:pPr algn="just">
              <a:lnSpc>
                <a:spcPts val="3850"/>
              </a:lnSpc>
            </a:pPr>
            <a:endParaRPr lang="en-US" sz="3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755651" lvl="1" indent="-377825" algn="just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Data visualization for correlations</a:t>
            </a:r>
          </a:p>
          <a:p>
            <a:pPr marL="0" lvl="0" indent="0" algn="just">
              <a:lnSpc>
                <a:spcPts val="3850"/>
              </a:lnSpc>
            </a:pPr>
            <a:endParaRPr lang="en-US" sz="350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8495075" y="487824"/>
            <a:ext cx="1297849" cy="18288000"/>
            <a:chOff x="0" y="0"/>
            <a:chExt cx="341820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 flipV="1">
            <a:off x="10972800" y="9362553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00000">
            <a:off x="8495075" y="-8495075"/>
            <a:ext cx="1297849" cy="18288000"/>
            <a:chOff x="0" y="0"/>
            <a:chExt cx="341820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0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099361" y="1900805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 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0132" y="4308397"/>
            <a:ext cx="8187639" cy="288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6" lvl="1" indent="-334643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Fully connected feedforward neural network</a:t>
            </a:r>
          </a:p>
          <a:p>
            <a:pPr marL="669286" lvl="1" indent="-334643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ReLU activation</a:t>
            </a:r>
          </a:p>
          <a:p>
            <a:pPr marL="669286" lvl="1" indent="-334643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Output: single value (house price)</a:t>
            </a:r>
          </a:p>
          <a:p>
            <a:pPr marL="669286" lvl="1" indent="-334643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Optimizer: Adam</a:t>
            </a:r>
          </a:p>
          <a:p>
            <a:pPr marL="669286" lvl="1" indent="-334643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Loss: Mean Squared Error (MSE)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265440" y="1163676"/>
            <a:ext cx="12356368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Training Results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265440" y="3357047"/>
            <a:ext cx="6494860" cy="4403221"/>
            <a:chOff x="0" y="0"/>
            <a:chExt cx="1710580" cy="11596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0580" cy="1159696"/>
            </a:xfrm>
            <a:custGeom>
              <a:avLst/>
              <a:gdLst/>
              <a:ahLst/>
              <a:cxnLst/>
              <a:rect l="l" t="t" r="r" b="b"/>
              <a:pathLst>
                <a:path w="1710580" h="1159696">
                  <a:moveTo>
                    <a:pt x="60792" y="0"/>
                  </a:moveTo>
                  <a:lnTo>
                    <a:pt x="1649788" y="0"/>
                  </a:lnTo>
                  <a:cubicBezTo>
                    <a:pt x="1683363" y="0"/>
                    <a:pt x="1710580" y="27218"/>
                    <a:pt x="1710580" y="60792"/>
                  </a:cubicBezTo>
                  <a:lnTo>
                    <a:pt x="1710580" y="1098904"/>
                  </a:lnTo>
                  <a:cubicBezTo>
                    <a:pt x="1710580" y="1115027"/>
                    <a:pt x="1704176" y="1130490"/>
                    <a:pt x="1692775" y="1141890"/>
                  </a:cubicBezTo>
                  <a:cubicBezTo>
                    <a:pt x="1681374" y="1153291"/>
                    <a:pt x="1665911" y="1159696"/>
                    <a:pt x="1649788" y="1159696"/>
                  </a:cubicBezTo>
                  <a:lnTo>
                    <a:pt x="60792" y="1159696"/>
                  </a:lnTo>
                  <a:cubicBezTo>
                    <a:pt x="27218" y="1159696"/>
                    <a:pt x="0" y="1132478"/>
                    <a:pt x="0" y="1098904"/>
                  </a:cubicBezTo>
                  <a:lnTo>
                    <a:pt x="0" y="60792"/>
                  </a:lnTo>
                  <a:cubicBezTo>
                    <a:pt x="0" y="27218"/>
                    <a:pt x="27218" y="0"/>
                    <a:pt x="607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10580" cy="1197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32419" y="4360412"/>
            <a:ext cx="5760903" cy="230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Smooth loss convergence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Low validation error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Model generalization is stable</a:t>
            </a:r>
          </a:p>
          <a:p>
            <a:pPr marL="669288" lvl="1" indent="-334644" algn="just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Ready for NIO phase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66525D-A523-D6D8-76DD-16D139384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781300"/>
            <a:ext cx="6928572" cy="55599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953909" y="1019175"/>
            <a:ext cx="14305391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NIO Optimization Phase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14448" y="3411855"/>
            <a:ext cx="7758627" cy="346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Initialize random input vector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Make it trainable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Define target house value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Run optimization until predicted value matches target</a:t>
            </a:r>
          </a:p>
          <a:p>
            <a:pPr marL="669288" lvl="1" indent="-334644" algn="just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Clamp/clip inputs to realistic bounds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FF14E96-7570-84AE-C91B-54014443B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599" y="2895388"/>
            <a:ext cx="6015215" cy="468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8495075" y="487824"/>
            <a:ext cx="1297849" cy="18288000"/>
            <a:chOff x="0" y="0"/>
            <a:chExt cx="341820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 flipV="1">
            <a:off x="10972800" y="9362553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00000">
            <a:off x="8495075" y="-8495075"/>
            <a:ext cx="1297849" cy="18288000"/>
            <a:chOff x="0" y="0"/>
            <a:chExt cx="341820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0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43187" y="1674827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Constraint Handling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3187" y="3194804"/>
            <a:ext cx="8985918" cy="407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sz="3099" b="1" dirty="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Examples:</a:t>
            </a:r>
          </a:p>
          <a:p>
            <a:pPr algn="l">
              <a:lnSpc>
                <a:spcPts val="4649"/>
              </a:lnSpc>
            </a:pPr>
            <a:endParaRPr lang="en-US" sz="3099" b="1" dirty="0">
              <a:solidFill>
                <a:srgbClr val="000000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Median Income: 1–15</a:t>
            </a:r>
          </a:p>
          <a:p>
            <a:pPr algn="l">
              <a:lnSpc>
                <a:spcPts val="4649"/>
              </a:lnSpc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House Age: 1–50</a:t>
            </a:r>
          </a:p>
          <a:p>
            <a:pPr algn="l">
              <a:lnSpc>
                <a:spcPts val="4649"/>
              </a:lnSpc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Rooms: 1–15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24301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818439" y="1160146"/>
            <a:ext cx="122560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Results of NIO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7585" y="3073717"/>
            <a:ext cx="6856415" cy="404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Model successfully finds feasible housing conditions</a:t>
            </a:r>
          </a:p>
          <a:p>
            <a:pPr algn="l">
              <a:lnSpc>
                <a:spcPts val="4649"/>
              </a:lnSpc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Matching error &lt; 1% to target value</a:t>
            </a:r>
          </a:p>
          <a:p>
            <a:pPr algn="l">
              <a:lnSpc>
                <a:spcPts val="4649"/>
              </a:lnSpc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Inputs are realistic and interpretable</a:t>
            </a:r>
          </a:p>
          <a:p>
            <a:pPr marL="0" lvl="0" indent="0" algn="l">
              <a:lnSpc>
                <a:spcPts val="4649"/>
              </a:lnSpc>
              <a:spcBef>
                <a:spcPct val="0"/>
              </a:spcBef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BC7932-FAF0-D6EA-7981-1045FC27D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1427" y="2410490"/>
            <a:ext cx="6856415" cy="545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28800" y="2140571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7800" y="3985824"/>
            <a:ext cx="8871243" cy="28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Higher income leads to higher target prices</a:t>
            </a:r>
          </a:p>
          <a:p>
            <a:pPr algn="l">
              <a:lnSpc>
                <a:spcPts val="4649"/>
              </a:lnSpc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Room count and location also influence strongly</a:t>
            </a:r>
          </a:p>
          <a:p>
            <a:pPr algn="l">
              <a:lnSpc>
                <a:spcPts val="4649"/>
              </a:lnSpc>
            </a:pPr>
            <a:endParaRPr lang="en-US" sz="3099" dirty="0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Optimization converges within 300 steps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8495075" y="487824"/>
            <a:ext cx="1297849" cy="18288000"/>
            <a:chOff x="0" y="0"/>
            <a:chExt cx="341820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 flipV="1">
            <a:off x="10972800" y="9362553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5400000">
            <a:off x="8495075" y="-8495075"/>
            <a:ext cx="1297849" cy="18288000"/>
            <a:chOff x="0" y="0"/>
            <a:chExt cx="341820" cy="4816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0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95BF0B-EF0D-0765-B5E0-AC2042215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0062" y="3655877"/>
            <a:ext cx="7766919" cy="3542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271979" y="553883"/>
            <a:ext cx="122560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Evaluation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71979" y="2163382"/>
            <a:ext cx="9763199" cy="783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Strengths:</a:t>
            </a:r>
          </a:p>
          <a:p>
            <a:pPr algn="just">
              <a:lnSpc>
                <a:spcPts val="4499"/>
              </a:lnSpc>
            </a:pPr>
            <a:endParaRPr lang="en-US" sz="2999" b="1">
              <a:solidFill>
                <a:srgbClr val="000000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Demonstrates full inverse modeling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Consistent with research frameworks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Extensible to other domains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just">
              <a:lnSpc>
                <a:spcPts val="4499"/>
              </a:lnSpc>
            </a:pPr>
            <a:r>
              <a:rPr lang="en-US" sz="2999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Limitations:</a:t>
            </a:r>
          </a:p>
          <a:p>
            <a:pPr algn="just">
              <a:lnSpc>
                <a:spcPts val="4499"/>
              </a:lnSpc>
            </a:pPr>
            <a:endParaRPr lang="en-US" sz="2999" b="1">
              <a:solidFill>
                <a:srgbClr val="000000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Sensitive to model accuracy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Local minima possibility</a:t>
            </a:r>
          </a:p>
          <a:p>
            <a:pPr marL="0" lvl="0" indent="0" algn="just">
              <a:lnSpc>
                <a:spcPts val="44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1557" y="167516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01557" y="3292585"/>
            <a:ext cx="11056485" cy="520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NIO approach satisfies the professor's requirement:</a:t>
            </a:r>
          </a:p>
          <a:p>
            <a:pPr marL="1338576" lvl="2" indent="-446192" algn="l">
              <a:lnSpc>
                <a:spcPts val="464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Research problem</a:t>
            </a:r>
          </a:p>
          <a:p>
            <a:pPr marL="1338576" lvl="2" indent="-446192" algn="l">
              <a:lnSpc>
                <a:spcPts val="464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Model development</a:t>
            </a:r>
          </a:p>
          <a:p>
            <a:pPr marL="1338576" lvl="2" indent="-446192" algn="l">
              <a:lnSpc>
                <a:spcPts val="464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Optimization</a:t>
            </a:r>
          </a:p>
          <a:p>
            <a:pPr marL="1338576" lvl="2" indent="-446192" algn="l">
              <a:lnSpc>
                <a:spcPts val="464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Evaluation</a:t>
            </a:r>
          </a:p>
          <a:p>
            <a:pPr algn="l">
              <a:lnSpc>
                <a:spcPts val="4649"/>
              </a:lnSpc>
            </a:pPr>
            <a:endParaRPr lang="en-US" sz="30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Provides interpretable planning solutions</a:t>
            </a:r>
          </a:p>
          <a:p>
            <a:pPr algn="l">
              <a:lnSpc>
                <a:spcPts val="4649"/>
              </a:lnSpc>
            </a:pPr>
            <a:endParaRPr lang="en-US" sz="30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69288" lvl="1" indent="-334644" algn="l">
              <a:lnSpc>
                <a:spcPts val="464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Demonstrates both ML + optimization techniques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8495075" y="487824"/>
            <a:ext cx="1297849" cy="18288000"/>
            <a:chOff x="0" y="0"/>
            <a:chExt cx="341820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 flipV="1">
            <a:off x="10972800" y="9362553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5400000">
            <a:off x="8495075" y="-8495075"/>
            <a:ext cx="1297849" cy="18288000"/>
            <a:chOff x="0" y="0"/>
            <a:chExt cx="341820" cy="4816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820" cy="4816592"/>
            </a:xfrm>
            <a:custGeom>
              <a:avLst/>
              <a:gdLst/>
              <a:ahLst/>
              <a:cxnLst/>
              <a:rect l="l" t="t" r="r" b="b"/>
              <a:pathLst>
                <a:path w="341820" h="4816592">
                  <a:moveTo>
                    <a:pt x="0" y="0"/>
                  </a:moveTo>
                  <a:lnTo>
                    <a:pt x="341820" y="0"/>
                  </a:lnTo>
                  <a:lnTo>
                    <a:pt x="341820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182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0" y="379654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2514448" cy="10287000"/>
            <a:chOff x="0" y="0"/>
            <a:chExt cx="66224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42" cy="2709333"/>
            </a:xfrm>
            <a:custGeom>
              <a:avLst/>
              <a:gdLst/>
              <a:ahLst/>
              <a:cxnLst/>
              <a:rect l="l" t="t" r="r" b="b"/>
              <a:pathLst>
                <a:path w="662242" h="2709333">
                  <a:moveTo>
                    <a:pt x="0" y="0"/>
                  </a:moveTo>
                  <a:lnTo>
                    <a:pt x="662242" y="0"/>
                  </a:lnTo>
                  <a:lnTo>
                    <a:pt x="6622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22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2898171" y="3388329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0" y="0"/>
                </a:moveTo>
                <a:lnTo>
                  <a:pt x="7315200" y="0"/>
                </a:lnTo>
                <a:lnTo>
                  <a:pt x="7315200" y="538542"/>
                </a:lnTo>
                <a:lnTo>
                  <a:pt x="0" y="538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 flipH="1" flipV="1">
            <a:off x="-2131105" y="6283717"/>
            <a:ext cx="7315200" cy="538542"/>
          </a:xfrm>
          <a:custGeom>
            <a:avLst/>
            <a:gdLst/>
            <a:ahLst/>
            <a:cxnLst/>
            <a:rect l="l" t="t" r="r" b="b"/>
            <a:pathLst>
              <a:path w="7315200" h="538542">
                <a:moveTo>
                  <a:pt x="7315200" y="538542"/>
                </a:moveTo>
                <a:lnTo>
                  <a:pt x="0" y="53854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385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271979" y="553883"/>
            <a:ext cx="122560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Future 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71979" y="2858452"/>
            <a:ext cx="9763199" cy="448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Add multi-objective optimization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Use richer U.S. datasets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Use constraint-aware optimizers (e.g., L-BFGS-B)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Add GUI for interactive planning</a:t>
            </a:r>
          </a:p>
          <a:p>
            <a:pPr marL="0" lvl="0" indent="0" algn="just">
              <a:lnSpc>
                <a:spcPts val="464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28700"/>
            <a:ext cx="18288000" cy="7543800"/>
          </a:xfrm>
          <a:custGeom>
            <a:avLst/>
            <a:gdLst/>
            <a:ahLst/>
            <a:cxnLst/>
            <a:rect l="l" t="t" r="r" b="b"/>
            <a:pathLst>
              <a:path w="18288000" h="7543800">
                <a:moveTo>
                  <a:pt x="0" y="0"/>
                </a:moveTo>
                <a:lnTo>
                  <a:pt x="18288000" y="0"/>
                </a:lnTo>
                <a:lnTo>
                  <a:pt x="182880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382</Words>
  <Application>Microsoft Office PowerPoint</Application>
  <PresentationFormat>Custom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Allerta Stencil</vt:lpstr>
      <vt:lpstr>TT Commons Pro</vt:lpstr>
      <vt:lpstr>TT Commons Pro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Input Optimization (NIO) Inverse Modeling for House Value Planning (U.S. Housing Dataset)</dc:title>
  <cp:lastModifiedBy>Mudhuganti Rahul Reddy</cp:lastModifiedBy>
  <cp:revision>4</cp:revision>
  <dcterms:created xsi:type="dcterms:W3CDTF">2006-08-16T00:00:00Z</dcterms:created>
  <dcterms:modified xsi:type="dcterms:W3CDTF">2025-12-08T23:52:32Z</dcterms:modified>
  <dc:identifier>DAG65bnBnho</dc:identifier>
</cp:coreProperties>
</file>